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61" r:id="rId3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3" userDrawn="1">
          <p15:clr>
            <a:srgbClr val="A4A3A4"/>
          </p15:clr>
        </p15:guide>
        <p15:guide id="2" orient="horz" pos="2024" userDrawn="1">
          <p15:clr>
            <a:srgbClr val="A4A3A4"/>
          </p15:clr>
        </p15:guide>
        <p15:guide id="3" pos="886" userDrawn="1">
          <p15:clr>
            <a:srgbClr val="A4A3A4"/>
          </p15:clr>
        </p15:guide>
        <p15:guide id="4" pos="62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8C"/>
    <a:srgbClr val="540004"/>
    <a:srgbClr val="0E4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04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228" y="-116"/>
      </p:cViewPr>
      <p:guideLst>
        <p:guide orient="horz" pos="753"/>
        <p:guide orient="horz" pos="2024"/>
        <p:guide pos="886"/>
        <p:guide pos="626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5090"/>
    </p:cViewPr>
  </p:sorterViewPr>
  <p:notesViewPr>
    <p:cSldViewPr snapToGrid="0">
      <p:cViewPr varScale="1">
        <p:scale>
          <a:sx n="46" d="100"/>
          <a:sy n="46" d="100"/>
        </p:scale>
        <p:origin x="2236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E918F-305E-4969-BF76-183BFA15C26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F280A-3861-4AF4-A92E-19A9C3A9F9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C5235-D026-46CF-A71B-93F0B23D54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8DEEC-5D81-46A3-9935-FF96FF36E35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GXU DATABASE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19666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607040" y="1070015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选题分析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607040" y="2662621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07040" y="1866318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07040" y="3428146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物理实现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607040" y="4224449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gxu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4825" y="5805170"/>
            <a:ext cx="1471295" cy="448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GXU DATABASE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1989540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607040" y="1070015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607040" y="1865755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07040" y="2661495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07040" y="3426457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物理实现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607040" y="4222199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gxu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4825" y="5805170"/>
            <a:ext cx="1471295" cy="448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GXU DATABASE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2770847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607040" y="1150529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607040" y="1934516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07040" y="2666788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07040" y="3434153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物理实现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607040" y="4222199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gxu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4825" y="5805170"/>
            <a:ext cx="1471295" cy="448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GXU DATABASE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577010" y="0"/>
            <a:ext cx="161498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360797" y="356102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607040" y="1070015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607040" y="1865756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07040" y="2661496"/>
            <a:ext cx="1536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800" dirty="0" err="1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07040" y="3426458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物理实现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607040" y="4222199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gxu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4825" y="5805170"/>
            <a:ext cx="1471295" cy="448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GXU DATABASE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607040" y="1070015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607040" y="1858061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07040" y="2646107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结构设计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07040" y="3434153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物理实现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607040" y="4222199"/>
            <a:ext cx="1536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测试总结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 descr="gxu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4825" y="5805170"/>
            <a:ext cx="1471295" cy="448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GXU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1046201" y="5566054"/>
            <a:ext cx="716362" cy="845938"/>
            <a:chOff x="8367154" y="5203814"/>
            <a:chExt cx="1890395" cy="2232329"/>
          </a:xfrm>
        </p:grpSpPr>
        <p:sp>
          <p:nvSpPr>
            <p:cNvPr id="11" name="Freeform 145"/>
            <p:cNvSpPr/>
            <p:nvPr/>
          </p:nvSpPr>
          <p:spPr bwMode="auto">
            <a:xfrm>
              <a:off x="8367154" y="5203814"/>
              <a:ext cx="1890395" cy="2232329"/>
            </a:xfrm>
            <a:custGeom>
              <a:avLst/>
              <a:gdLst>
                <a:gd name="T0" fmla="*/ 758 w 777"/>
                <a:gd name="T1" fmla="*/ 204 h 918"/>
                <a:gd name="T2" fmla="*/ 389 w 777"/>
                <a:gd name="T3" fmla="*/ 0 h 918"/>
                <a:gd name="T4" fmla="*/ 19 w 777"/>
                <a:gd name="T5" fmla="*/ 204 h 918"/>
                <a:gd name="T6" fmla="*/ 271 w 777"/>
                <a:gd name="T7" fmla="*/ 833 h 918"/>
                <a:gd name="T8" fmla="*/ 389 w 777"/>
                <a:gd name="T9" fmla="*/ 918 h 918"/>
                <a:gd name="T10" fmla="*/ 506 w 777"/>
                <a:gd name="T11" fmla="*/ 832 h 918"/>
                <a:gd name="T12" fmla="*/ 758 w 777"/>
                <a:gd name="T13" fmla="*/ 204 h 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918">
                  <a:moveTo>
                    <a:pt x="758" y="204"/>
                  </a:moveTo>
                  <a:cubicBezTo>
                    <a:pt x="389" y="0"/>
                    <a:pt x="389" y="0"/>
                    <a:pt x="389" y="0"/>
                  </a:cubicBezTo>
                  <a:cubicBezTo>
                    <a:pt x="19" y="204"/>
                    <a:pt x="19" y="204"/>
                    <a:pt x="19" y="204"/>
                  </a:cubicBezTo>
                  <a:cubicBezTo>
                    <a:pt x="19" y="204"/>
                    <a:pt x="0" y="622"/>
                    <a:pt x="271" y="833"/>
                  </a:cubicBezTo>
                  <a:cubicBezTo>
                    <a:pt x="306" y="864"/>
                    <a:pt x="344" y="893"/>
                    <a:pt x="389" y="918"/>
                  </a:cubicBezTo>
                  <a:cubicBezTo>
                    <a:pt x="433" y="893"/>
                    <a:pt x="472" y="864"/>
                    <a:pt x="506" y="832"/>
                  </a:cubicBezTo>
                  <a:cubicBezTo>
                    <a:pt x="777" y="622"/>
                    <a:pt x="758" y="204"/>
                    <a:pt x="758" y="20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146"/>
            <p:cNvSpPr>
              <a:spLocks noEditPoints="1"/>
            </p:cNvSpPr>
            <p:nvPr/>
          </p:nvSpPr>
          <p:spPr bwMode="auto">
            <a:xfrm>
              <a:off x="8530421" y="5338329"/>
              <a:ext cx="1564890" cy="1962273"/>
            </a:xfrm>
            <a:custGeom>
              <a:avLst/>
              <a:gdLst>
                <a:gd name="T0" fmla="*/ 322 w 643"/>
                <a:gd name="T1" fmla="*/ 807 h 807"/>
                <a:gd name="T2" fmla="*/ 317 w 643"/>
                <a:gd name="T3" fmla="*/ 804 h 807"/>
                <a:gd name="T4" fmla="*/ 237 w 643"/>
                <a:gd name="T5" fmla="*/ 742 h 807"/>
                <a:gd name="T6" fmla="*/ 234 w 643"/>
                <a:gd name="T7" fmla="*/ 739 h 807"/>
                <a:gd name="T8" fmla="*/ 0 w 643"/>
                <a:gd name="T9" fmla="*/ 183 h 807"/>
                <a:gd name="T10" fmla="*/ 0 w 643"/>
                <a:gd name="T11" fmla="*/ 178 h 807"/>
                <a:gd name="T12" fmla="*/ 322 w 643"/>
                <a:gd name="T13" fmla="*/ 0 h 807"/>
                <a:gd name="T14" fmla="*/ 643 w 643"/>
                <a:gd name="T15" fmla="*/ 178 h 807"/>
                <a:gd name="T16" fmla="*/ 643 w 643"/>
                <a:gd name="T17" fmla="*/ 183 h 807"/>
                <a:gd name="T18" fmla="*/ 409 w 643"/>
                <a:gd name="T19" fmla="*/ 739 h 807"/>
                <a:gd name="T20" fmla="*/ 406 w 643"/>
                <a:gd name="T21" fmla="*/ 742 h 807"/>
                <a:gd name="T22" fmla="*/ 326 w 643"/>
                <a:gd name="T23" fmla="*/ 804 h 807"/>
                <a:gd name="T24" fmla="*/ 322 w 643"/>
                <a:gd name="T25" fmla="*/ 807 h 807"/>
                <a:gd name="T26" fmla="*/ 18 w 643"/>
                <a:gd name="T27" fmla="*/ 187 h 807"/>
                <a:gd name="T28" fmla="*/ 244 w 643"/>
                <a:gd name="T29" fmla="*/ 726 h 807"/>
                <a:gd name="T30" fmla="*/ 248 w 643"/>
                <a:gd name="T31" fmla="*/ 729 h 807"/>
                <a:gd name="T32" fmla="*/ 322 w 643"/>
                <a:gd name="T33" fmla="*/ 787 h 807"/>
                <a:gd name="T34" fmla="*/ 395 w 643"/>
                <a:gd name="T35" fmla="*/ 729 h 807"/>
                <a:gd name="T36" fmla="*/ 399 w 643"/>
                <a:gd name="T37" fmla="*/ 726 h 807"/>
                <a:gd name="T38" fmla="*/ 625 w 643"/>
                <a:gd name="T39" fmla="*/ 187 h 807"/>
                <a:gd name="T40" fmla="*/ 322 w 643"/>
                <a:gd name="T41" fmla="*/ 19 h 807"/>
                <a:gd name="T42" fmla="*/ 18 w 643"/>
                <a:gd name="T43" fmla="*/ 187 h 8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43" h="807">
                  <a:moveTo>
                    <a:pt x="322" y="807"/>
                  </a:moveTo>
                  <a:cubicBezTo>
                    <a:pt x="317" y="804"/>
                    <a:pt x="317" y="804"/>
                    <a:pt x="317" y="804"/>
                  </a:cubicBezTo>
                  <a:cubicBezTo>
                    <a:pt x="289" y="785"/>
                    <a:pt x="262" y="765"/>
                    <a:pt x="237" y="742"/>
                  </a:cubicBezTo>
                  <a:cubicBezTo>
                    <a:pt x="236" y="741"/>
                    <a:pt x="235" y="740"/>
                    <a:pt x="234" y="739"/>
                  </a:cubicBezTo>
                  <a:cubicBezTo>
                    <a:pt x="26" y="578"/>
                    <a:pt x="3" y="273"/>
                    <a:pt x="0" y="183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322" y="0"/>
                    <a:pt x="322" y="0"/>
                    <a:pt x="322" y="0"/>
                  </a:cubicBezTo>
                  <a:cubicBezTo>
                    <a:pt x="643" y="178"/>
                    <a:pt x="643" y="178"/>
                    <a:pt x="643" y="178"/>
                  </a:cubicBezTo>
                  <a:cubicBezTo>
                    <a:pt x="643" y="183"/>
                    <a:pt x="643" y="183"/>
                    <a:pt x="643" y="183"/>
                  </a:cubicBezTo>
                  <a:cubicBezTo>
                    <a:pt x="640" y="273"/>
                    <a:pt x="617" y="578"/>
                    <a:pt x="409" y="739"/>
                  </a:cubicBezTo>
                  <a:cubicBezTo>
                    <a:pt x="408" y="740"/>
                    <a:pt x="407" y="741"/>
                    <a:pt x="406" y="742"/>
                  </a:cubicBezTo>
                  <a:cubicBezTo>
                    <a:pt x="382" y="764"/>
                    <a:pt x="355" y="785"/>
                    <a:pt x="326" y="804"/>
                  </a:cubicBezTo>
                  <a:lnTo>
                    <a:pt x="322" y="807"/>
                  </a:lnTo>
                  <a:close/>
                  <a:moveTo>
                    <a:pt x="18" y="187"/>
                  </a:moveTo>
                  <a:cubicBezTo>
                    <a:pt x="21" y="281"/>
                    <a:pt x="46" y="572"/>
                    <a:pt x="244" y="726"/>
                  </a:cubicBezTo>
                  <a:cubicBezTo>
                    <a:pt x="246" y="727"/>
                    <a:pt x="247" y="728"/>
                    <a:pt x="248" y="729"/>
                  </a:cubicBezTo>
                  <a:cubicBezTo>
                    <a:pt x="271" y="750"/>
                    <a:pt x="296" y="769"/>
                    <a:pt x="322" y="787"/>
                  </a:cubicBezTo>
                  <a:cubicBezTo>
                    <a:pt x="347" y="769"/>
                    <a:pt x="372" y="750"/>
                    <a:pt x="395" y="729"/>
                  </a:cubicBezTo>
                  <a:cubicBezTo>
                    <a:pt x="396" y="728"/>
                    <a:pt x="397" y="727"/>
                    <a:pt x="399" y="726"/>
                  </a:cubicBezTo>
                  <a:cubicBezTo>
                    <a:pt x="597" y="572"/>
                    <a:pt x="623" y="281"/>
                    <a:pt x="625" y="187"/>
                  </a:cubicBezTo>
                  <a:cubicBezTo>
                    <a:pt x="322" y="19"/>
                    <a:pt x="322" y="19"/>
                    <a:pt x="322" y="19"/>
                  </a:cubicBezTo>
                  <a:lnTo>
                    <a:pt x="18" y="18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147"/>
            <p:cNvSpPr>
              <a:spLocks noEditPoints="1"/>
            </p:cNvSpPr>
            <p:nvPr/>
          </p:nvSpPr>
          <p:spPr bwMode="auto">
            <a:xfrm>
              <a:off x="8462650" y="5260290"/>
              <a:ext cx="1700431" cy="2120404"/>
            </a:xfrm>
            <a:custGeom>
              <a:avLst/>
              <a:gdLst>
                <a:gd name="T0" fmla="*/ 350 w 699"/>
                <a:gd name="T1" fmla="*/ 872 h 872"/>
                <a:gd name="T2" fmla="*/ 348 w 699"/>
                <a:gd name="T3" fmla="*/ 871 h 872"/>
                <a:gd name="T4" fmla="*/ 246 w 699"/>
                <a:gd name="T5" fmla="*/ 795 h 872"/>
                <a:gd name="T6" fmla="*/ 245 w 699"/>
                <a:gd name="T7" fmla="*/ 794 h 872"/>
                <a:gd name="T8" fmla="*/ 0 w 699"/>
                <a:gd name="T9" fmla="*/ 195 h 872"/>
                <a:gd name="T10" fmla="*/ 0 w 699"/>
                <a:gd name="T11" fmla="*/ 193 h 872"/>
                <a:gd name="T12" fmla="*/ 350 w 699"/>
                <a:gd name="T13" fmla="*/ 0 h 872"/>
                <a:gd name="T14" fmla="*/ 699 w 699"/>
                <a:gd name="T15" fmla="*/ 193 h 872"/>
                <a:gd name="T16" fmla="*/ 699 w 699"/>
                <a:gd name="T17" fmla="*/ 195 h 872"/>
                <a:gd name="T18" fmla="*/ 455 w 699"/>
                <a:gd name="T19" fmla="*/ 794 h 872"/>
                <a:gd name="T20" fmla="*/ 453 w 699"/>
                <a:gd name="T21" fmla="*/ 795 h 872"/>
                <a:gd name="T22" fmla="*/ 351 w 699"/>
                <a:gd name="T23" fmla="*/ 871 h 872"/>
                <a:gd name="T24" fmla="*/ 350 w 699"/>
                <a:gd name="T25" fmla="*/ 872 h 872"/>
                <a:gd name="T26" fmla="*/ 6 w 699"/>
                <a:gd name="T27" fmla="*/ 196 h 872"/>
                <a:gd name="T28" fmla="*/ 248 w 699"/>
                <a:gd name="T29" fmla="*/ 789 h 872"/>
                <a:gd name="T30" fmla="*/ 250 w 699"/>
                <a:gd name="T31" fmla="*/ 791 h 872"/>
                <a:gd name="T32" fmla="*/ 350 w 699"/>
                <a:gd name="T33" fmla="*/ 866 h 872"/>
                <a:gd name="T34" fmla="*/ 450 w 699"/>
                <a:gd name="T35" fmla="*/ 791 h 872"/>
                <a:gd name="T36" fmla="*/ 451 w 699"/>
                <a:gd name="T37" fmla="*/ 789 h 872"/>
                <a:gd name="T38" fmla="*/ 694 w 699"/>
                <a:gd name="T39" fmla="*/ 196 h 872"/>
                <a:gd name="T40" fmla="*/ 350 w 699"/>
                <a:gd name="T41" fmla="*/ 6 h 872"/>
                <a:gd name="T42" fmla="*/ 6 w 699"/>
                <a:gd name="T43" fmla="*/ 196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9" h="872">
                  <a:moveTo>
                    <a:pt x="350" y="872"/>
                  </a:moveTo>
                  <a:cubicBezTo>
                    <a:pt x="348" y="871"/>
                    <a:pt x="348" y="871"/>
                    <a:pt x="348" y="871"/>
                  </a:cubicBezTo>
                  <a:cubicBezTo>
                    <a:pt x="312" y="849"/>
                    <a:pt x="277" y="823"/>
                    <a:pt x="246" y="795"/>
                  </a:cubicBezTo>
                  <a:cubicBezTo>
                    <a:pt x="245" y="795"/>
                    <a:pt x="245" y="794"/>
                    <a:pt x="245" y="794"/>
                  </a:cubicBezTo>
                  <a:cubicBezTo>
                    <a:pt x="11" y="612"/>
                    <a:pt x="0" y="263"/>
                    <a:pt x="0" y="195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350" y="0"/>
                    <a:pt x="350" y="0"/>
                    <a:pt x="350" y="0"/>
                  </a:cubicBezTo>
                  <a:cubicBezTo>
                    <a:pt x="699" y="193"/>
                    <a:pt x="699" y="193"/>
                    <a:pt x="699" y="193"/>
                  </a:cubicBezTo>
                  <a:cubicBezTo>
                    <a:pt x="699" y="195"/>
                    <a:pt x="699" y="195"/>
                    <a:pt x="699" y="195"/>
                  </a:cubicBezTo>
                  <a:cubicBezTo>
                    <a:pt x="699" y="263"/>
                    <a:pt x="689" y="612"/>
                    <a:pt x="455" y="794"/>
                  </a:cubicBezTo>
                  <a:cubicBezTo>
                    <a:pt x="454" y="794"/>
                    <a:pt x="454" y="794"/>
                    <a:pt x="453" y="795"/>
                  </a:cubicBezTo>
                  <a:cubicBezTo>
                    <a:pt x="422" y="823"/>
                    <a:pt x="388" y="849"/>
                    <a:pt x="351" y="871"/>
                  </a:cubicBezTo>
                  <a:lnTo>
                    <a:pt x="350" y="872"/>
                  </a:lnTo>
                  <a:close/>
                  <a:moveTo>
                    <a:pt x="6" y="196"/>
                  </a:moveTo>
                  <a:cubicBezTo>
                    <a:pt x="6" y="268"/>
                    <a:pt x="18" y="611"/>
                    <a:pt x="248" y="789"/>
                  </a:cubicBezTo>
                  <a:cubicBezTo>
                    <a:pt x="249" y="790"/>
                    <a:pt x="249" y="790"/>
                    <a:pt x="250" y="791"/>
                  </a:cubicBezTo>
                  <a:cubicBezTo>
                    <a:pt x="280" y="819"/>
                    <a:pt x="314" y="844"/>
                    <a:pt x="350" y="866"/>
                  </a:cubicBezTo>
                  <a:cubicBezTo>
                    <a:pt x="385" y="844"/>
                    <a:pt x="419" y="819"/>
                    <a:pt x="450" y="791"/>
                  </a:cubicBezTo>
                  <a:cubicBezTo>
                    <a:pt x="450" y="790"/>
                    <a:pt x="451" y="790"/>
                    <a:pt x="451" y="789"/>
                  </a:cubicBezTo>
                  <a:cubicBezTo>
                    <a:pt x="681" y="611"/>
                    <a:pt x="694" y="268"/>
                    <a:pt x="694" y="196"/>
                  </a:cubicBezTo>
                  <a:cubicBezTo>
                    <a:pt x="350" y="6"/>
                    <a:pt x="350" y="6"/>
                    <a:pt x="350" y="6"/>
                  </a:cubicBezTo>
                  <a:lnTo>
                    <a:pt x="6" y="1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261"/>
            <p:cNvSpPr>
              <a:spLocks noEditPoints="1"/>
            </p:cNvSpPr>
            <p:nvPr/>
          </p:nvSpPr>
          <p:spPr bwMode="auto">
            <a:xfrm>
              <a:off x="9015085" y="5797322"/>
              <a:ext cx="595562" cy="853296"/>
            </a:xfrm>
            <a:custGeom>
              <a:avLst/>
              <a:gdLst>
                <a:gd name="T0" fmla="*/ 580 w 580"/>
                <a:gd name="T1" fmla="*/ 831 h 831"/>
                <a:gd name="T2" fmla="*/ 0 w 580"/>
                <a:gd name="T3" fmla="*/ 831 h 831"/>
                <a:gd name="T4" fmla="*/ 0 w 580"/>
                <a:gd name="T5" fmla="*/ 611 h 831"/>
                <a:gd name="T6" fmla="*/ 61 w 580"/>
                <a:gd name="T7" fmla="*/ 611 h 831"/>
                <a:gd name="T8" fmla="*/ 61 w 580"/>
                <a:gd name="T9" fmla="*/ 220 h 831"/>
                <a:gd name="T10" fmla="*/ 0 w 580"/>
                <a:gd name="T11" fmla="*/ 220 h 831"/>
                <a:gd name="T12" fmla="*/ 0 w 580"/>
                <a:gd name="T13" fmla="*/ 0 h 831"/>
                <a:gd name="T14" fmla="*/ 367 w 580"/>
                <a:gd name="T15" fmla="*/ 0 h 831"/>
                <a:gd name="T16" fmla="*/ 367 w 580"/>
                <a:gd name="T17" fmla="*/ 220 h 831"/>
                <a:gd name="T18" fmla="*/ 289 w 580"/>
                <a:gd name="T19" fmla="*/ 220 h 831"/>
                <a:gd name="T20" fmla="*/ 289 w 580"/>
                <a:gd name="T21" fmla="*/ 611 h 831"/>
                <a:gd name="T22" fmla="*/ 360 w 580"/>
                <a:gd name="T23" fmla="*/ 611 h 831"/>
                <a:gd name="T24" fmla="*/ 360 w 580"/>
                <a:gd name="T25" fmla="*/ 516 h 831"/>
                <a:gd name="T26" fmla="*/ 580 w 580"/>
                <a:gd name="T27" fmla="*/ 516 h 831"/>
                <a:gd name="T28" fmla="*/ 580 w 580"/>
                <a:gd name="T29" fmla="*/ 831 h 831"/>
                <a:gd name="T30" fmla="*/ 568 w 580"/>
                <a:gd name="T31" fmla="*/ 817 h 831"/>
                <a:gd name="T32" fmla="*/ 568 w 580"/>
                <a:gd name="T33" fmla="*/ 528 h 831"/>
                <a:gd name="T34" fmla="*/ 372 w 580"/>
                <a:gd name="T35" fmla="*/ 528 h 831"/>
                <a:gd name="T36" fmla="*/ 372 w 580"/>
                <a:gd name="T37" fmla="*/ 623 h 831"/>
                <a:gd name="T38" fmla="*/ 277 w 580"/>
                <a:gd name="T39" fmla="*/ 623 h 831"/>
                <a:gd name="T40" fmla="*/ 277 w 580"/>
                <a:gd name="T41" fmla="*/ 208 h 831"/>
                <a:gd name="T42" fmla="*/ 357 w 580"/>
                <a:gd name="T43" fmla="*/ 208 h 831"/>
                <a:gd name="T44" fmla="*/ 357 w 580"/>
                <a:gd name="T45" fmla="*/ 14 h 831"/>
                <a:gd name="T46" fmla="*/ 12 w 580"/>
                <a:gd name="T47" fmla="*/ 14 h 831"/>
                <a:gd name="T48" fmla="*/ 12 w 580"/>
                <a:gd name="T49" fmla="*/ 208 h 831"/>
                <a:gd name="T50" fmla="*/ 75 w 580"/>
                <a:gd name="T51" fmla="*/ 208 h 831"/>
                <a:gd name="T52" fmla="*/ 75 w 580"/>
                <a:gd name="T53" fmla="*/ 623 h 831"/>
                <a:gd name="T54" fmla="*/ 12 w 580"/>
                <a:gd name="T55" fmla="*/ 623 h 831"/>
                <a:gd name="T56" fmla="*/ 12 w 580"/>
                <a:gd name="T57" fmla="*/ 817 h 831"/>
                <a:gd name="T58" fmla="*/ 568 w 580"/>
                <a:gd name="T59" fmla="*/ 817 h 831"/>
                <a:gd name="T60" fmla="*/ 530 w 580"/>
                <a:gd name="T61" fmla="*/ 779 h 831"/>
                <a:gd name="T62" fmla="*/ 52 w 580"/>
                <a:gd name="T63" fmla="*/ 779 h 831"/>
                <a:gd name="T64" fmla="*/ 52 w 580"/>
                <a:gd name="T65" fmla="*/ 663 h 831"/>
                <a:gd name="T66" fmla="*/ 113 w 580"/>
                <a:gd name="T67" fmla="*/ 663 h 831"/>
                <a:gd name="T68" fmla="*/ 113 w 580"/>
                <a:gd name="T69" fmla="*/ 168 h 831"/>
                <a:gd name="T70" fmla="*/ 52 w 580"/>
                <a:gd name="T71" fmla="*/ 168 h 831"/>
                <a:gd name="T72" fmla="*/ 52 w 580"/>
                <a:gd name="T73" fmla="*/ 52 h 831"/>
                <a:gd name="T74" fmla="*/ 317 w 580"/>
                <a:gd name="T75" fmla="*/ 52 h 831"/>
                <a:gd name="T76" fmla="*/ 317 w 580"/>
                <a:gd name="T77" fmla="*/ 168 h 831"/>
                <a:gd name="T78" fmla="*/ 237 w 580"/>
                <a:gd name="T79" fmla="*/ 168 h 831"/>
                <a:gd name="T80" fmla="*/ 237 w 580"/>
                <a:gd name="T81" fmla="*/ 663 h 831"/>
                <a:gd name="T82" fmla="*/ 410 w 580"/>
                <a:gd name="T83" fmla="*/ 663 h 831"/>
                <a:gd name="T84" fmla="*/ 410 w 580"/>
                <a:gd name="T85" fmla="*/ 566 h 831"/>
                <a:gd name="T86" fmla="*/ 530 w 580"/>
                <a:gd name="T87" fmla="*/ 566 h 831"/>
                <a:gd name="T88" fmla="*/ 530 w 580"/>
                <a:gd name="T89" fmla="*/ 779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80" h="831">
                  <a:moveTo>
                    <a:pt x="580" y="831"/>
                  </a:moveTo>
                  <a:lnTo>
                    <a:pt x="0" y="831"/>
                  </a:lnTo>
                  <a:lnTo>
                    <a:pt x="0" y="611"/>
                  </a:lnTo>
                  <a:lnTo>
                    <a:pt x="61" y="611"/>
                  </a:lnTo>
                  <a:lnTo>
                    <a:pt x="61" y="220"/>
                  </a:lnTo>
                  <a:lnTo>
                    <a:pt x="0" y="220"/>
                  </a:lnTo>
                  <a:lnTo>
                    <a:pt x="0" y="0"/>
                  </a:lnTo>
                  <a:lnTo>
                    <a:pt x="367" y="0"/>
                  </a:lnTo>
                  <a:lnTo>
                    <a:pt x="367" y="220"/>
                  </a:lnTo>
                  <a:lnTo>
                    <a:pt x="289" y="220"/>
                  </a:lnTo>
                  <a:lnTo>
                    <a:pt x="289" y="611"/>
                  </a:lnTo>
                  <a:lnTo>
                    <a:pt x="360" y="611"/>
                  </a:lnTo>
                  <a:lnTo>
                    <a:pt x="360" y="516"/>
                  </a:lnTo>
                  <a:lnTo>
                    <a:pt x="580" y="516"/>
                  </a:lnTo>
                  <a:lnTo>
                    <a:pt x="580" y="831"/>
                  </a:lnTo>
                  <a:close/>
                  <a:moveTo>
                    <a:pt x="568" y="817"/>
                  </a:moveTo>
                  <a:lnTo>
                    <a:pt x="568" y="528"/>
                  </a:lnTo>
                  <a:lnTo>
                    <a:pt x="372" y="528"/>
                  </a:lnTo>
                  <a:lnTo>
                    <a:pt x="372" y="623"/>
                  </a:lnTo>
                  <a:lnTo>
                    <a:pt x="277" y="623"/>
                  </a:lnTo>
                  <a:lnTo>
                    <a:pt x="277" y="208"/>
                  </a:lnTo>
                  <a:lnTo>
                    <a:pt x="357" y="208"/>
                  </a:lnTo>
                  <a:lnTo>
                    <a:pt x="357" y="14"/>
                  </a:lnTo>
                  <a:lnTo>
                    <a:pt x="12" y="14"/>
                  </a:lnTo>
                  <a:lnTo>
                    <a:pt x="12" y="208"/>
                  </a:lnTo>
                  <a:lnTo>
                    <a:pt x="75" y="208"/>
                  </a:lnTo>
                  <a:lnTo>
                    <a:pt x="75" y="623"/>
                  </a:lnTo>
                  <a:lnTo>
                    <a:pt x="12" y="623"/>
                  </a:lnTo>
                  <a:lnTo>
                    <a:pt x="12" y="817"/>
                  </a:lnTo>
                  <a:lnTo>
                    <a:pt x="568" y="817"/>
                  </a:lnTo>
                  <a:close/>
                  <a:moveTo>
                    <a:pt x="530" y="779"/>
                  </a:moveTo>
                  <a:lnTo>
                    <a:pt x="52" y="779"/>
                  </a:lnTo>
                  <a:lnTo>
                    <a:pt x="52" y="663"/>
                  </a:lnTo>
                  <a:lnTo>
                    <a:pt x="113" y="663"/>
                  </a:lnTo>
                  <a:lnTo>
                    <a:pt x="113" y="168"/>
                  </a:lnTo>
                  <a:lnTo>
                    <a:pt x="52" y="168"/>
                  </a:lnTo>
                  <a:lnTo>
                    <a:pt x="52" y="52"/>
                  </a:lnTo>
                  <a:lnTo>
                    <a:pt x="317" y="52"/>
                  </a:lnTo>
                  <a:lnTo>
                    <a:pt x="317" y="168"/>
                  </a:lnTo>
                  <a:lnTo>
                    <a:pt x="237" y="168"/>
                  </a:lnTo>
                  <a:lnTo>
                    <a:pt x="237" y="663"/>
                  </a:lnTo>
                  <a:lnTo>
                    <a:pt x="410" y="663"/>
                  </a:lnTo>
                  <a:lnTo>
                    <a:pt x="410" y="566"/>
                  </a:lnTo>
                  <a:lnTo>
                    <a:pt x="530" y="566"/>
                  </a:lnTo>
                  <a:lnTo>
                    <a:pt x="530" y="779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Click="0" advTm="300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1606096"/>
            <a:ext cx="12192000" cy="32076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E4761"/>
              </a:solidFill>
            </a:endParaRPr>
          </a:p>
        </p:txBody>
      </p:sp>
      <p:sp>
        <p:nvSpPr>
          <p:cNvPr id="3" name="Freeform 5"/>
          <p:cNvSpPr>
            <a:spLocks noEditPoints="1"/>
          </p:cNvSpPr>
          <p:nvPr/>
        </p:nvSpPr>
        <p:spPr bwMode="auto">
          <a:xfrm>
            <a:off x="8599210" y="5440828"/>
            <a:ext cx="1114980" cy="99583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567413" y="2123113"/>
            <a:ext cx="90571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数据库原理实践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报刊订阅管理系统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300116" y="3221798"/>
            <a:ext cx="3712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Course Design of Database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671443" y="3406464"/>
            <a:ext cx="2628673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等腰三角形 11"/>
          <p:cNvSpPr/>
          <p:nvPr/>
        </p:nvSpPr>
        <p:spPr>
          <a:xfrm flipV="1">
            <a:off x="8977053" y="482155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3" name="直接连接符 52"/>
          <p:cNvCxnSpPr/>
          <p:nvPr/>
        </p:nvCxnSpPr>
        <p:spPr>
          <a:xfrm>
            <a:off x="8098627" y="3449285"/>
            <a:ext cx="2543402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357235" y="-48641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81940" y="375920"/>
            <a:ext cx="3379470" cy="1084580"/>
            <a:chOff x="504" y="1636"/>
            <a:chExt cx="5322" cy="1708"/>
          </a:xfrm>
        </p:grpSpPr>
        <p:grpSp>
          <p:nvGrpSpPr>
            <p:cNvPr id="7" name="组合 6"/>
            <p:cNvGrpSpPr>
              <a:grpSpLocks noChangeAspect="1"/>
            </p:cNvGrpSpPr>
            <p:nvPr/>
          </p:nvGrpSpPr>
          <p:grpSpPr>
            <a:xfrm>
              <a:off x="504" y="1681"/>
              <a:ext cx="5323" cy="1662"/>
              <a:chOff x="330" y="2023"/>
              <a:chExt cx="5774" cy="1852"/>
            </a:xfrm>
          </p:grpSpPr>
          <p:pic>
            <p:nvPicPr>
              <p:cNvPr id="2" name="图片 1" descr="gxu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30" y="2023"/>
                <a:ext cx="1943" cy="1853"/>
              </a:xfrm>
              <a:prstGeom prst="rect">
                <a:avLst/>
              </a:prstGeom>
            </p:spPr>
          </p:pic>
          <p:pic>
            <p:nvPicPr>
              <p:cNvPr id="4" name="图片 3" descr="gxu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42" y="2042"/>
                <a:ext cx="3763" cy="1620"/>
              </a:xfrm>
              <a:prstGeom prst="rect">
                <a:avLst/>
              </a:prstGeom>
            </p:spPr>
          </p:pic>
        </p:grpSp>
        <p:pic>
          <p:nvPicPr>
            <p:cNvPr id="6" name="图片 5" descr="gxu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" y="1636"/>
              <a:ext cx="1790" cy="170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选题分析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57150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sz="15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1700784"/>
            <a:ext cx="5715000" cy="214884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73990" indent="-173990">
              <a:lnSpc>
                <a:spcPct val="122000"/>
              </a:lnSpc>
              <a:spcAft>
                <a:spcPts val="700"/>
              </a:spcAft>
            </a:pPr>
            <a:r>
              <a:rPr sz="12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2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高校与企事业单位报刊种类多、订阅周期长，人工登记易错、统计困难</a:t>
            </a:r>
            <a:endParaRPr sz="12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3990" indent="-173990">
              <a:lnSpc>
                <a:spcPct val="122000"/>
              </a:lnSpc>
              <a:spcAft>
                <a:spcPts val="700"/>
              </a:spcAft>
            </a:pPr>
            <a:r>
              <a:rPr sz="12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2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需要统一办理部门与个人的订阅、审核结算与统计分析</a:t>
            </a:r>
            <a:endParaRPr sz="12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3990" indent="-173990">
              <a:lnSpc>
                <a:spcPct val="122000"/>
              </a:lnSpc>
              <a:spcAft>
                <a:spcPts val="700"/>
              </a:spcAft>
            </a:pPr>
            <a:r>
              <a:rPr sz="12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2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以数据库为核心，完整实践“需求→概念→逻辑→物理→实施→测试”全流程</a:t>
            </a:r>
            <a:endParaRPr sz="12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3246120"/>
            <a:ext cx="57150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技术栈</a:t>
            </a:r>
            <a:endParaRPr sz="15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3611880"/>
            <a:ext cx="5715000" cy="658368"/>
          </a:xfrm>
          <a:prstGeom prst="roundRect">
            <a:avLst>
              <a:gd name="adj" fmla="val 12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3648456"/>
            <a:ext cx="5486400" cy="585216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MySQL 8.0  ·  Flask 3 + Jinja2  ·  pymysql  ·  ECharts 5  ·  Python 3.10+</a:t>
            </a:r>
            <a:endParaRPr sz="112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4389120"/>
            <a:ext cx="5715000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张数据表（每表 ≥50 条测试数据）  ·  约 5000 行代码  ·  三角色 Web 系统</a:t>
            </a:r>
            <a:endParaRPr sz="11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5010912"/>
            <a:ext cx="5715000" cy="1060704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9525">
            <a:solidFill>
              <a:srgbClr val="E8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84064"/>
            <a:ext cx="53949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课程硬性指标：≥3000 行代码 · 6 类数据库对象全覆盖</a:t>
            </a:r>
            <a:endParaRPr sz="115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431536"/>
            <a:ext cx="5394960" cy="5486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 / 函数 / 存储过程 / 视图 / 权限 / 事务；7 张表全部达到 BCNF，测试数据每表 ≥50 条。</a:t>
            </a:r>
            <a:endParaRPr sz="98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5392" y="1353312"/>
            <a:ext cx="370332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三类角色</a:t>
            </a:r>
            <a:endParaRPr sz="15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65392" y="1737360"/>
            <a:ext cx="37033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65392" y="1792224"/>
            <a:ext cx="50292" cy="822960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828800"/>
            <a:ext cx="34290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系统管理员</a:t>
            </a:r>
            <a:endParaRPr sz="125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20840" y="2167128"/>
            <a:ext cx="342900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基础数据维护 · 订单审核 · 日志与系统维护</a:t>
            </a:r>
            <a:endParaRPr sz="103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65392" y="2770632"/>
            <a:ext cx="37033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5392" y="2825496"/>
            <a:ext cx="50292" cy="822960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862072"/>
            <a:ext cx="34290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部门管理员</a:t>
            </a:r>
            <a:endParaRPr sz="125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20840" y="3200400"/>
            <a:ext cx="342900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本部门代订 · 部门查询与统计</a:t>
            </a:r>
            <a:endParaRPr sz="103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65392" y="3803904"/>
            <a:ext cx="370332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65392" y="3858768"/>
            <a:ext cx="50292" cy="822960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3895344"/>
            <a:ext cx="34290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订阅用户</a:t>
            </a:r>
            <a:endParaRPr sz="125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4233672"/>
            <a:ext cx="342900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3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自助订阅 · 订单查询 · 个人统计</a:t>
            </a:r>
            <a:endParaRPr sz="103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65392" y="5047488"/>
            <a:ext cx="3703320" cy="1005840"/>
          </a:xfrm>
          <a:prstGeom prst="roundRect">
            <a:avLst>
              <a:gd name="adj" fmla="val 10000"/>
            </a:avLst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9984" y="5157216"/>
            <a:ext cx="338328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三角色 · 六模块 · 七张表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29984" y="5541264"/>
            <a:ext cx="338328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F2D9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覆盖报刊订阅业务全流程</a:t>
            </a:r>
            <a:endParaRPr sz="1050" b="0">
              <a:solidFill>
                <a:srgbClr val="F2D9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1225296"/>
            <a:ext cx="96926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面向三类角色划分 6 大功能模块，形成“订阅—审核—统计”业务闭环</a:t>
            </a:r>
            <a:endParaRPr sz="112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Picture 3" descr="图2-1_系统功能模块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11" y="1527048"/>
            <a:ext cx="9449793" cy="2706624"/>
          </a:xfrm>
          <a:prstGeom prst="rect">
            <a:avLst/>
          </a:prstGeom>
          <a:ln w="9525">
            <a:solidFill>
              <a:srgbClr val="E2DCD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66928" y="4297680"/>
            <a:ext cx="969264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 2-1  系统功能模块图（另绘制顶层、0 层、订阅管理 1 层数据流图及数据字典）</a:t>
            </a:r>
            <a:endParaRPr sz="88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4663440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4736592"/>
            <a:ext cx="502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sz="95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6656" y="4965192"/>
            <a:ext cx="138988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系统管理</a:t>
            </a:r>
            <a:endParaRPr sz="113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" y="5303520"/>
            <a:ext cx="1389888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 · 改密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角色权限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199132" y="4663440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8860" y="4736592"/>
            <a:ext cx="502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sz="95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8860" y="4965192"/>
            <a:ext cx="138988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部门与人员</a:t>
            </a:r>
            <a:endParaRPr sz="113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08860" y="5303520"/>
            <a:ext cx="1389888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部门 / 人员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信息维护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31335" y="4663440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3" y="4736592"/>
            <a:ext cx="502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sz="95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41063" y="4965192"/>
            <a:ext cx="138988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报刊信息</a:t>
            </a:r>
            <a:endParaRPr sz="113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41063" y="5303520"/>
            <a:ext cx="1389888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 / 报刊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信息维护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3540" y="4663440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3268" y="4736592"/>
            <a:ext cx="502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sz="95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73268" y="4965192"/>
            <a:ext cx="138988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订阅管理</a:t>
            </a:r>
            <a:endParaRPr sz="113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3268" y="5303520"/>
            <a:ext cx="1389888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登记 · 算金额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审核 · 退订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095744" y="4663440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5472" y="4736592"/>
            <a:ext cx="502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sz="95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05472" y="4965192"/>
            <a:ext cx="138988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查询统计</a:t>
            </a:r>
            <a:endParaRPr sz="113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05472" y="5303520"/>
            <a:ext cx="1389888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模糊查询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三维统计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727948" y="4663440"/>
            <a:ext cx="1572768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37676" y="4736592"/>
            <a:ext cx="5029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sz="95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37676" y="4965192"/>
            <a:ext cx="138988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系统维护</a:t>
            </a:r>
            <a:endParaRPr sz="113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37676" y="5303520"/>
            <a:ext cx="1389888" cy="8229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操作日志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4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备份恢复</a:t>
            </a:r>
            <a:endParaRPr sz="94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概念结构设计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 descr="图3-5_系统总体E-R图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995" y="1280160"/>
            <a:ext cx="6950712" cy="3584448"/>
          </a:xfrm>
          <a:prstGeom prst="rect">
            <a:avLst/>
          </a:prstGeom>
          <a:ln w="9525">
            <a:solidFill>
              <a:srgbClr val="E2DCD4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66928" y="4919472"/>
            <a:ext cx="676656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 3-5  系统总体 E-R 图（4 张分 E-R 图集成为 1 张总体图）</a:t>
            </a:r>
            <a:endParaRPr sz="88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5358384"/>
            <a:ext cx="6784848" cy="914400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5431536"/>
            <a:ext cx="653796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实体：部门 · 订阅人员 · 报刊类别 · 报刊 · 订阅单 · 操作日志</a:t>
            </a:r>
            <a:endParaRPr sz="98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5797296"/>
            <a:ext cx="6537960" cy="36576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8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联系：隶属 · 属于 · 维护 · 提交 · 审核 · 包含 · 记录</a:t>
            </a:r>
            <a:endParaRPr sz="98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79" y="1298448"/>
            <a:ext cx="1371600" cy="786384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52944" y="1325880"/>
            <a:ext cx="1261872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2944" y="1728216"/>
            <a:ext cx="1261872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个实体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979408" y="1298448"/>
            <a:ext cx="1371600" cy="786384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1325880"/>
            <a:ext cx="1261872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34272" y="1728216"/>
            <a:ext cx="1261872" cy="2377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个联系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2212848"/>
            <a:ext cx="274320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设计要点</a:t>
            </a:r>
            <a:endParaRPr sz="14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0" y="2560320"/>
            <a:ext cx="2743200" cy="36118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5000"/>
              </a:lnSpc>
              <a:spcAft>
                <a:spcPts val="700"/>
              </a:spcAft>
            </a:pPr>
            <a:r>
              <a:rPr sz="104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4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先分模块绘制 4 张分 E-R 图，再集成为总体 E-R 图</a:t>
            </a:r>
            <a:endParaRPr sz="104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5000"/>
              </a:lnSpc>
              <a:spcAft>
                <a:spcPts val="700"/>
              </a:spcAft>
            </a:pPr>
            <a:r>
              <a:rPr sz="104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4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1:n 联系并入 n 端，作为外码</a:t>
            </a:r>
            <a:endParaRPr sz="104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5000"/>
              </a:lnSpc>
              <a:spcAft>
                <a:spcPts val="700"/>
              </a:spcAft>
            </a:pPr>
            <a:r>
              <a:rPr sz="104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4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m:n“包含”联系独立转换为订阅明细</a:t>
            </a:r>
            <a:endParaRPr sz="104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5000"/>
              </a:lnSpc>
              <a:spcAft>
                <a:spcPts val="700"/>
              </a:spcAft>
            </a:pPr>
            <a:r>
              <a:rPr sz="104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4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联系基数标注 1 / n / m，图中不使用箭头</a:t>
            </a:r>
            <a:endParaRPr sz="104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5000"/>
              </a:lnSpc>
              <a:spcAft>
                <a:spcPts val="700"/>
              </a:spcAft>
            </a:pPr>
            <a:r>
              <a:rPr sz="104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4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主码以下划线标注，实体属性完整</a:t>
            </a:r>
            <a:endParaRPr sz="104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逻辑结构设计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66928" y="1207008"/>
            <a:ext cx="9738360" cy="475488"/>
          </a:xfrm>
          <a:prstGeom prst="roundRect">
            <a:avLst>
              <a:gd name="adj" fmla="val 12000"/>
            </a:avLst>
          </a:prstGeom>
          <a:solidFill>
            <a:srgbClr val="FAF0D8"/>
          </a:solidFill>
          <a:ln w="9525">
            <a:solidFill>
              <a:srgbClr val="E8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418320" cy="420624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8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E-R 图  →  7 个关系模式  ·  全部达到 BCNF  ·  另设计 7 个视图</a:t>
            </a:r>
            <a:endParaRPr sz="118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810512"/>
            <a:ext cx="47731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865376"/>
            <a:ext cx="50292" cy="713232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851660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1847088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department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部门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2093976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dept_id  ·  UK dept_name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088" y="2276856"/>
            <a:ext cx="4553712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dept_name · location · phone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743200"/>
            <a:ext cx="4773168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798064"/>
            <a:ext cx="50292" cy="1024128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784348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" y="2779776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subscriber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订阅人员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" y="3026664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sub_id  ·  UK username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" y="3209544"/>
            <a:ext cx="4553712" cy="6309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sub_name · gender · phone · address · dept_id FK · password · role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3986784"/>
            <a:ext cx="47731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41648"/>
            <a:ext cx="50292" cy="713232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027932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" y="4023360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category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报刊类别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088" y="4270248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cat_id  ·  UK cat_name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4088" y="4453128"/>
            <a:ext cx="4553712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cat_name · cat_desc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4919472"/>
            <a:ext cx="4773168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974336"/>
            <a:ext cx="50292" cy="987552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960620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4088" y="4956048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publication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报刊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4088" y="5202936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pub_id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4088" y="5385816"/>
            <a:ext cx="4553712" cy="59435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pub_name · cat_id FK · period · unit_price · publisher · maintainer FK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532120" y="1810512"/>
            <a:ext cx="4773168" cy="1389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20" y="1865376"/>
            <a:ext cx="50292" cy="1280160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0" y="1851660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0" y="1847088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subscription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订阅单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80" y="2093976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order_id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69280" y="2276856"/>
            <a:ext cx="4553712" cy="8869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sub_date · start_date · end_date · total_amount · order_status · orderer_id FK · auditor_id FK · audit_time · audit_comment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532120" y="3310128"/>
            <a:ext cx="47731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32120" y="3364992"/>
            <a:ext cx="50292" cy="713232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3351276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9280" y="3346704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subscription_detail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订阅明细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9280" y="3593592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(order_id, pub_id)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69280" y="3776472"/>
            <a:ext cx="4553712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quantity · periods · subtotal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532120" y="4242816"/>
            <a:ext cx="477316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32120" y="4297679"/>
            <a:ext cx="50292" cy="713232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4283964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110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69280" y="4279392"/>
            <a:ext cx="4572000" cy="23774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op_log</a:t>
            </a:r>
            <a:r>
              <a:rPr sz="11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操作日志</a:t>
            </a:r>
            <a:endParaRPr sz="11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669280" y="4526279"/>
            <a:ext cx="4572000" cy="17373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8A8A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PK log_id</a:t>
            </a:r>
            <a:endParaRPr sz="83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69280" y="4709159"/>
            <a:ext cx="4553712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sub_id FK · op_type · op_content · op_time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532120" y="5175504"/>
            <a:ext cx="4773168" cy="841248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50992" y="5230368"/>
            <a:ext cx="4553712" cy="7315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规范化优化：合并 1:1 账号关系 · m:n 独立成表 · 消除类别名称传递依赖；派生金额由触发器维护一致性。</a:t>
            </a:r>
            <a:endParaRPr sz="9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物理设计与实施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66928" y="1225296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80160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数据表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54096" y="1225296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5536" y="1280160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1648" y="1280160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541264" y="1225296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32704" y="1280160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8816" y="1280160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视图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28431" y="1225296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1280160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15984" y="1280160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2103120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54480" y="2157984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存储过程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54096" y="2103120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45536" y="2157984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41648" y="2157984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541264" y="2103120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2704" y="2157984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28816" y="2157984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数据库角色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28431" y="2103120"/>
            <a:ext cx="2331720" cy="768096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2157984"/>
            <a:ext cx="932688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9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endParaRPr sz="19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15984" y="2157984"/>
            <a:ext cx="1289304" cy="6583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 DDL</a:t>
            </a:r>
            <a:endParaRPr sz="95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3200400"/>
            <a:ext cx="3127248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310128"/>
            <a:ext cx="27432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完整性约束</a:t>
            </a:r>
            <a:endParaRPr sz="14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3675887"/>
            <a:ext cx="2788920" cy="1389888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主码、外码、UNIQUE、CHECK 约束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触发器维护小计 = 单价 × 份数 × 期数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触发器汇总总金额、校验状态机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审核时间自动填充、操作日志自动记录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1520" y="5102352"/>
            <a:ext cx="2798064" cy="82296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138928"/>
            <a:ext cx="2651760" cy="7498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>
                <a:solidFill>
                  <a:srgbClr val="AC0000"/>
                </a:solidFill>
                <a:latin typeface="Consolas" panose="020B0609020204030204"/>
                <a:ea typeface="Consolas" panose="020B0609020204030204"/>
              </a:rPr>
              <a:t>SET NEW.subtotal = v_price</a:t>
            </a:r>
            <a:endParaRPr sz="780" b="0">
              <a:solidFill>
                <a:srgbClr val="AC000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>
                <a:solidFill>
                  <a:srgbClr val="AC0000"/>
                </a:solidFill>
                <a:latin typeface="Consolas" panose="020B0609020204030204"/>
                <a:ea typeface="Consolas" panose="020B0609020204030204"/>
              </a:rPr>
              <a:t>  * NEW.quantity * NEW.periods;</a:t>
            </a:r>
            <a:endParaRPr sz="780" b="0">
              <a:solidFill>
                <a:srgbClr val="AC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813048" y="3200400"/>
            <a:ext cx="3127248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95928" y="3310128"/>
            <a:ext cx="27432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事务与并发</a:t>
            </a:r>
            <a:endParaRPr sz="14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977639" y="3675887"/>
            <a:ext cx="2788920" cy="1389888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下单 / 追加 / 审核 / 退订均走存储过程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显式事务 + 异常回滚，保证原子性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GET_LOCK 命名锁串行取号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线程并发下单，订单号 10/10 唯一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977639" y="5102352"/>
            <a:ext cx="2798064" cy="82296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0791" y="5138928"/>
            <a:ext cx="2651760" cy="7498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>
                <a:solidFill>
                  <a:srgbClr val="AC0000"/>
                </a:solidFill>
                <a:latin typeface="Consolas" panose="020B0609020204030204"/>
                <a:ea typeface="Consolas" panose="020B0609020204030204"/>
              </a:rPr>
              <a:t>SELECT GET_LOCK(</a:t>
            </a:r>
            <a:endParaRPr sz="780" b="0">
              <a:solidFill>
                <a:srgbClr val="AC000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>
                <a:solidFill>
                  <a:srgbClr val="AC0000"/>
                </a:solidFill>
                <a:latin typeface="Consolas" panose="020B0609020204030204"/>
                <a:ea typeface="Consolas" panose="020B0609020204030204"/>
              </a:rPr>
              <a:t>  'press_order_no', 10) INTO v_lock;</a:t>
            </a:r>
            <a:endParaRPr sz="780" b="0">
              <a:solidFill>
                <a:srgbClr val="AC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059168" y="3200400"/>
            <a:ext cx="3127248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42048" y="3310128"/>
            <a:ext cx="274320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权限与安全</a:t>
            </a:r>
            <a:endParaRPr sz="14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223759" y="3675887"/>
            <a:ext cx="2788920" cy="1389888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个数据库角色 + 应用账号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登录动态创建同名 MySQL 账号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v_user_orders 行级安全（USER()）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2000"/>
              </a:lnSpc>
              <a:spcAft>
                <a:spcPts val="600"/>
              </a:spcAft>
            </a:pPr>
            <a:r>
              <a:rPr sz="103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03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auth_app 仅 5 列 SELECT + 1 列 UPDATE</a:t>
            </a:r>
            <a:endParaRPr sz="103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59" y="5102352"/>
            <a:ext cx="2798064" cy="82296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5138928"/>
            <a:ext cx="2651760" cy="74980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>
                <a:solidFill>
                  <a:srgbClr val="AC0000"/>
                </a:solidFill>
                <a:latin typeface="Consolas" panose="020B0609020204030204"/>
                <a:ea typeface="Consolas" panose="020B0609020204030204"/>
              </a:rPr>
              <a:t>GRANT SELECT ON v_user_orders</a:t>
            </a:r>
            <a:endParaRPr sz="780" b="0">
              <a:solidFill>
                <a:srgbClr val="AC000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80" b="0">
                <a:solidFill>
                  <a:srgbClr val="AC0000"/>
                </a:solidFill>
                <a:latin typeface="Consolas" panose="020B0609020204030204"/>
                <a:ea typeface="Consolas" panose="020B0609020204030204"/>
              </a:rPr>
              <a:t>  TO 'r_sub_user';</a:t>
            </a:r>
            <a:endParaRPr sz="780" b="0">
              <a:solidFill>
                <a:srgbClr val="AC00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66928" y="6217920"/>
            <a:ext cx="96926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endParaRPr sz="920" b="0">
              <a:solidFill>
                <a:srgbClr val="8A8A8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系统实现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 descr="图6-1_登录页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975" y="1243584"/>
            <a:ext cx="4155033" cy="2596896"/>
          </a:xfrm>
          <a:prstGeom prst="rect">
            <a:avLst/>
          </a:prstGeom>
          <a:ln w="9525">
            <a:solidFill>
              <a:srgbClr val="E2DCD4"/>
            </a:solidFill>
          </a:ln>
        </p:spPr>
      </p:pic>
      <p:sp>
        <p:nvSpPr>
          <p:cNvPr id="4" name="Rounded Rectangle 3"/>
          <p:cNvSpPr/>
          <p:nvPr/>
        </p:nvSpPr>
        <p:spPr>
          <a:xfrm>
            <a:off x="825703" y="3438144"/>
            <a:ext cx="1481328" cy="274320"/>
          </a:xfrm>
          <a:prstGeom prst="roundRect">
            <a:avLst>
              <a:gd name="adj" fmla="val 25000"/>
            </a:avLst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登录与角色入口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 descr="图6-2_系统管理员工作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855" y="1243584"/>
            <a:ext cx="4155033" cy="2596896"/>
          </a:xfrm>
          <a:prstGeom prst="rect">
            <a:avLst/>
          </a:prstGeom>
          <a:ln w="9525">
            <a:solidFill>
              <a:srgbClr val="E2DCD4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580583" y="3438144"/>
            <a:ext cx="1481328" cy="274320"/>
          </a:xfrm>
          <a:prstGeom prst="roundRect">
            <a:avLst>
              <a:gd name="adj" fmla="val 25000"/>
            </a:avLst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全局工作台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 descr="图6-3_订单审核页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" y="4059936"/>
            <a:ext cx="4155033" cy="2596896"/>
          </a:xfrm>
          <a:prstGeom prst="rect">
            <a:avLst/>
          </a:prstGeom>
          <a:ln w="9525">
            <a:solidFill>
              <a:srgbClr val="E2DCD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25703" y="6254496"/>
            <a:ext cx="1481328" cy="274320"/>
          </a:xfrm>
          <a:prstGeom prst="roundRect">
            <a:avLst>
              <a:gd name="adj" fmla="val 25000"/>
            </a:avLst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订单审核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8" descr="图6-6_统计分析页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855" y="4059936"/>
            <a:ext cx="4155033" cy="2596896"/>
          </a:xfrm>
          <a:prstGeom prst="rect">
            <a:avLst/>
          </a:prstGeom>
          <a:ln w="9525">
            <a:solidFill>
              <a:srgbClr val="E2DCD4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5580583" y="6254496"/>
            <a:ext cx="1481328" cy="274320"/>
          </a:xfrm>
          <a:prstGeom prst="roundRect">
            <a:avLst>
              <a:gd name="adj" fmla="val 25000"/>
            </a:avLst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统计分析</a:t>
            </a:r>
            <a:endParaRPr sz="9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 lIns="0" tIns="0" rIns="0" bIns="0" anchor="ctr">
            <a:noAutofit/>
          </a:bodyPr>
          <a:lstStyle/>
          <a:p>
            <a:pPr algn="l"/>
            <a:r>
              <a:rPr sz="29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sz="29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566928" y="1280160"/>
            <a:ext cx="312724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768096" y="1389888"/>
            <a:ext cx="5486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sz="120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768096" y="1719072"/>
            <a:ext cx="27432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主要收获</a:t>
            </a:r>
            <a:endParaRPr sz="15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4"/>
            </p:custDataLst>
          </p:nvPr>
        </p:nvSpPr>
        <p:spPr>
          <a:xfrm>
            <a:off x="749808" y="2176272"/>
            <a:ext cx="2788920" cy="22402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完整走通需求→概念→逻辑→物理→实施→测试全流程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触发器、函数、视图、存储过程、权限综合运用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建立事务、并发与最小权限的工程意识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两人协作完成系统开发、测试与报告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6"/>
          <p:cNvSpPr/>
          <p:nvPr>
            <p:custDataLst>
              <p:tags r:id="rId5"/>
            </p:custDataLst>
          </p:nvPr>
        </p:nvSpPr>
        <p:spPr>
          <a:xfrm>
            <a:off x="749808" y="4590288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6"/>
            </p:custDataLst>
          </p:nvPr>
        </p:nvSpPr>
        <p:spPr>
          <a:xfrm>
            <a:off x="3813048" y="1280160"/>
            <a:ext cx="312724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7"/>
            </p:custDataLst>
          </p:nvPr>
        </p:nvSpPr>
        <p:spPr>
          <a:xfrm>
            <a:off x="4014215" y="1389888"/>
            <a:ext cx="5486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sz="120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014215" y="1719072"/>
            <a:ext cx="27432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项目亮点</a:t>
            </a:r>
            <a:endParaRPr sz="15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3995928" y="2176272"/>
            <a:ext cx="2788920" cy="22402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三级权限防线：路由 → 数据库角色 → 行级视图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金额一致性由触发器强制维护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GET_LOCK 解决并发取号死锁问题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 项端到端断言全部通过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10"/>
            </p:custDataLst>
          </p:nvPr>
        </p:nvSpPr>
        <p:spPr>
          <a:xfrm>
            <a:off x="3995928" y="4590288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4050791" y="4617720"/>
            <a:ext cx="2651760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endParaRPr sz="94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ounded Rectangle 14"/>
          <p:cNvSpPr/>
          <p:nvPr>
            <p:custDataLst>
              <p:tags r:id="rId12"/>
            </p:custDataLst>
          </p:nvPr>
        </p:nvSpPr>
        <p:spPr>
          <a:xfrm>
            <a:off x="7059168" y="1280160"/>
            <a:ext cx="312724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7260336" y="1389888"/>
            <a:ext cx="54864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89B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sz="1200" b="1">
              <a:solidFill>
                <a:srgbClr val="C89B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7260336" y="1719072"/>
            <a:ext cx="27432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不足与展望</a:t>
            </a:r>
            <a:endParaRPr sz="15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7242048" y="2176272"/>
            <a:ext cx="2788920" cy="2240280"/>
          </a:xfrm>
          <a:prstGeom prst="rect">
            <a:avLst/>
          </a:prstGeom>
          <a:noFill/>
        </p:spPr>
        <p:txBody>
          <a:bodyPr wrap="square" lIns="18288" tIns="9144" rIns="18288" bIns="9144">
            <a:noAutofit/>
          </a:bodyPr>
          <a:lstStyle/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订阅到期自动提醒与续订推荐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报表导出与打印样式继续增强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引入缓存 / 读写分离提升并发能力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6050" indent="-146050">
              <a:lnSpc>
                <a:spcPct val="118000"/>
              </a:lnSpc>
              <a:spcAft>
                <a:spcPts val="1000"/>
              </a:spcAft>
            </a:pPr>
            <a:r>
              <a:rPr sz="112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•  </a:t>
            </a:r>
            <a:r>
              <a:rPr sz="1120" b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移动端适配与消息通知</a:t>
            </a:r>
            <a:endParaRPr sz="1120" b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6"/>
            </p:custDataLst>
          </p:nvPr>
        </p:nvSpPr>
        <p:spPr>
          <a:xfrm>
            <a:off x="7242048" y="4590288"/>
            <a:ext cx="2761488" cy="658368"/>
          </a:xfrm>
          <a:prstGeom prst="roundRect">
            <a:avLst>
              <a:gd name="adj" fmla="val 10000"/>
            </a:avLst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7"/>
            </p:custDataLst>
          </p:nvPr>
        </p:nvSpPr>
        <p:spPr>
          <a:xfrm>
            <a:off x="7296912" y="4617720"/>
            <a:ext cx="2651760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endParaRPr sz="94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66928" y="5650992"/>
            <a:ext cx="9738360" cy="603504"/>
          </a:xfrm>
          <a:prstGeom prst="roundRect">
            <a:avLst>
              <a:gd name="adj" fmla="val 18000"/>
            </a:avLst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669280"/>
            <a:ext cx="9372600" cy="5669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以数据库为硬约束，让业务规则在数据层真正落地</a:t>
            </a:r>
            <a:endParaRPr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05072"/>
            <a:ext cx="12191695" cy="2852928"/>
          </a:xfrm>
          <a:prstGeom prst="rect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 rot="10800000">
            <a:off x="5916168" y="4005072"/>
            <a:ext cx="356616" cy="210312"/>
          </a:xfrm>
          <a:prstGeom prst="triangle">
            <a:avLst/>
          </a:prstGeom>
          <a:solidFill>
            <a:srgbClr val="8F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228600"/>
            <a:ext cx="2212848" cy="6766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40" y="1847088"/>
            <a:ext cx="3520440" cy="9144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000" b="1">
                <a:solidFill>
                  <a:srgbClr val="8F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sz="5000" b="1">
              <a:solidFill>
                <a:srgbClr val="8F00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66160" y="2871216"/>
            <a:ext cx="4480560" cy="411480"/>
          </a:xfrm>
          <a:prstGeom prst="rect">
            <a:avLst/>
          </a:prstGeom>
          <a:noFill/>
        </p:spPr>
        <p:txBody>
          <a:bodyPr wrap="square" lIns="18288" tIns="9144" rIns="18288" bIns="9144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敬请各位老师指导</a:t>
            </a:r>
            <a:endParaRPr sz="1700" b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3000">
    <p:fade/>
  </p:transition>
</p:sld>
</file>

<file path=ppt/tags/tag1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2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3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4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5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6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7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8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9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0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1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2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3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4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5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6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ags/tag17.xml><?xml version="1.0" encoding="utf-8"?>
<p:tagLst xmlns:p="http://schemas.openxmlformats.org/presentationml/2006/main">
  <p:tag name="KSO_WM_DIAGRAM_VIRTUALLY_FRAME" val="{&quot;height&quot;:327.6,&quot;left&quot;:44.64,&quot;top&quot;:100.8,&quot;width&quot;:757.4399999999999}"/>
</p:tagLst>
</file>

<file path=ppt/theme/theme1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2427</Words>
  <Application>WPS 演示</Application>
  <PresentationFormat>宽屏</PresentationFormat>
  <Paragraphs>269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华文细黑</vt:lpstr>
      <vt:lpstr>Arial</vt:lpstr>
      <vt:lpstr>Consolas</vt:lpstr>
      <vt:lpstr>Calibri</vt:lpstr>
      <vt:lpstr>Arial Unicode MS</vt:lpstr>
      <vt:lpstr>Calibri Light</vt:lpstr>
      <vt:lpstr>Office 主题</vt:lpstr>
      <vt:lpstr>PowerPoint 演示文稿</vt:lpstr>
      <vt:lpstr>选题分析</vt:lpstr>
      <vt:lpstr>需求分析</vt:lpstr>
      <vt:lpstr>概念结构设计</vt:lpstr>
      <vt:lpstr>逻辑结构设计</vt:lpstr>
      <vt:lpstr>物理设计与实施</vt:lpstr>
      <vt:lpstr>系统实现</vt:lpstr>
      <vt:lpstr>总结与展望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数据库原理实践——报刊订阅管理系统</dc:title>
  <dc:creator>项目组</dc:creator>
  <cp:keywords>http:/www.ypppt.com</cp:keywords>
  <dc:description>http://www.ypppt.com/</dc:description>
  <cp:lastModifiedBy>放不下的回忆</cp:lastModifiedBy>
  <cp:revision>473</cp:revision>
  <dcterms:created xsi:type="dcterms:W3CDTF">2016-04-18T02:22:00Z</dcterms:created>
  <dcterms:modified xsi:type="dcterms:W3CDTF">2026-10-18T10:47:58Z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F0DD7E0DF32C49CA894581D5395A0893</vt:lpwstr>
  </property>
</Properties>
</file>